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Merriweather" panose="00000500000000000000" pitchFamily="2" charset="-94"/>
      <p:regular r:id="rId16"/>
      <p:bold r:id="rId17"/>
      <p:italic r:id="rId18"/>
      <p:boldItalic r:id="rId19"/>
    </p:embeddedFont>
    <p:embeddedFont>
      <p:font typeface="Montserrat" panose="00000500000000000000" pitchFamily="2" charset="-94"/>
      <p:regular r:id="rId20"/>
      <p:bold r:id="rId21"/>
      <p:italic r:id="rId22"/>
      <p:boldItalic r:id="rId23"/>
    </p:embeddedFont>
    <p:embeddedFont>
      <p:font typeface="Montserrat Light" panose="00000400000000000000" pitchFamily="2" charset="-94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6D9DA1-02CA-481C-8B9E-61C93967E937}">
  <a:tblStyle styleId="{226D9DA1-02CA-481C-8B9E-61C93967E9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258273001032@ogr.selcuk.edu.tr" TargetMode="Externa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95375" y="1969740"/>
            <a:ext cx="100012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Türkçe Hukuki Metinlerin SML ile Özetlenmesi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43312" y="3684240"/>
            <a:ext cx="4905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5A0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Büyük Dil Modelleri (LLM) Dersi Final Projesi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56350" y="4506950"/>
            <a:ext cx="4479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Emrah Aksu (258273001032)</a:t>
            </a:r>
            <a:endParaRPr sz="15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Danışman: Dr. Öğr. Üyesi Ali Çetinkaya</a:t>
            </a:r>
            <a:endParaRPr sz="15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81225"/>
            <a:ext cx="50482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81225"/>
            <a:ext cx="50482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500" y="5181600"/>
            <a:ext cx="1047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"Amaç: Adalete erişimin dijital araçlarla hızlandırılması ve Türkçe Legal NLP literatüründeki boşluğun doldurulması."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5181600"/>
            <a:ext cx="47625" cy="60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47750" y="3162300"/>
            <a:ext cx="47005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Bilgi Yoğunluğu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47750" y="360045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Hukuki metinlerin (Yargıtay/Resmi Gazete) devasa hacmi ve karmaşık terminolojisi bilgiye erişimi zorlaştırmaktadır.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162300"/>
            <a:ext cx="47005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Kaynak Optimizasyonu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360045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Milyarlarca parametreli LLM'ler yerine, yerel cihazlarda çalışabilen Küçük Dil Modellerinin (SML) sınırlarını test etmek.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2543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543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524000" y="571500"/>
            <a:ext cx="68008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Tanımı ve Motivasyon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62000" y="1285875"/>
            <a:ext cx="8001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24125"/>
            <a:ext cx="33654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24125"/>
            <a:ext cx="33654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24125"/>
            <a:ext cx="33654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47750" y="3505200"/>
            <a:ext cx="2933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QLoRA (4-Bit)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3943350"/>
            <a:ext cx="2793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NF4 kuantizasyon ile model ağırlıklarını sıkıştırarak RTX 3050 ve Colab GPU limitlerinde eğitim imkanı.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98950" y="3505200"/>
            <a:ext cx="2933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SML Modelleri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98950" y="3943350"/>
            <a:ext cx="2793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SmolLM2 (360M), Qwen2.5 (1.5B) ve Gemma-2 (2B) modellerinin dikey alan karşılaştırması.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50150" y="3505200"/>
            <a:ext cx="2933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Hiperparametreler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0150" y="3943350"/>
            <a:ext cx="27939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Rank: 8, Alpha: 16, LR: 2e-4. Kararlı yakınsama için gradyan biriktirme (Accumulation: 4) kullanımı.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28860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28860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8860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524000" y="571500"/>
            <a:ext cx="522065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Metot ve Teknik Altyapı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62000" y="1285875"/>
            <a:ext cx="64960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81237"/>
            <a:ext cx="50482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228123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Vize raporundaki NLI veri seti hatası, final aşamasında geliştirilen dinamik ayıklama hattı ile giderilmiştir.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90762"/>
            <a:ext cx="50292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338613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Gürültü Temizleme: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Kurumsal kalıpların (T.C., Esas No) temizlenmesi.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41386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Anlamsal Ayrıştırma: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GEREKÇE ve ÖZET bloklarının dinamik yakalanması.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89108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Filtreleme: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1.500 - 3.000 token arası yüksek kaliteli 469 kayıt.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4385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1910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9434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524000" y="571500"/>
            <a:ext cx="564070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Regex Extraction Pipeline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62000" y="1285875"/>
            <a:ext cx="68961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76525"/>
            <a:ext cx="33654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676525"/>
            <a:ext cx="33654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76525"/>
            <a:ext cx="336545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1047750" y="3657600"/>
            <a:ext cx="2933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ROUGE-1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47750" y="4095750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Tekli kelime örtüşmesi ile bilgi koruma oranının ölçülmesi.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698950" y="3657600"/>
            <a:ext cx="2933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ROUGE-L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698950" y="4095750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En uzun ortak alt dizi ile cümle yapısı ve akıcılık analizi.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350150" y="3657600"/>
            <a:ext cx="293364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BERTScore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350150" y="4095750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Kelimelerin ötesinde, anlamsal (semantik) yakınlığın vektörel ölçümü.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30384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3038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3038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524000" y="571500"/>
            <a:ext cx="561070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Değerlendirme Metrikleri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762000" y="1285875"/>
            <a:ext cx="6867525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8"/>
          <p:cNvGraphicFramePr/>
          <p:nvPr/>
        </p:nvGraphicFramePr>
        <p:xfrm>
          <a:off x="762000" y="2811809"/>
          <a:ext cx="10668000" cy="2009800"/>
        </p:xfrm>
        <a:graphic>
          <a:graphicData uri="http://schemas.openxmlformats.org/drawingml/2006/table">
            <a:tbl>
              <a:tblPr firstRow="1" bandRow="1">
                <a:noFill/>
                <a:tableStyleId>{226D9DA1-02CA-481C-8B9E-61C93967E937}</a:tableStyleId>
              </a:tblPr>
              <a:tblGrid>
                <a:gridCol w="275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 Mimarisi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ROUGE-1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ROUGE-L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BERTScore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SmolLM2-360M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0.395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0.341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0.798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Qwen2.5-1.5B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0.468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2D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Gemma-2-2B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2D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Fine-tuned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2D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2D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0.435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2D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0.881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6" name="Google Shape;166;p18"/>
          <p:cNvSpPr txBox="1"/>
          <p:nvPr/>
        </p:nvSpPr>
        <p:spPr>
          <a:xfrm>
            <a:off x="762000" y="5107334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* Zero-shot skorlarına kıyasla ince ayar sonrası ortalama %100 performans artışı gözlemlenmiştir.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62000" y="3797647"/>
            <a:ext cx="275912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521124" y="3797647"/>
            <a:ext cx="211752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638651" y="3797647"/>
            <a:ext cx="179665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7435304" y="3797647"/>
            <a:ext cx="18607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9296102" y="3797647"/>
            <a:ext cx="213389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62000" y="4302472"/>
            <a:ext cx="275912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3521124" y="4302472"/>
            <a:ext cx="211752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638651" y="4302472"/>
            <a:ext cx="179665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435304" y="4302472"/>
            <a:ext cx="18607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9296102" y="4302472"/>
            <a:ext cx="213389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762000" y="4807297"/>
            <a:ext cx="275912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521124" y="4807297"/>
            <a:ext cx="2117526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638651" y="4807297"/>
            <a:ext cx="1796653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7435304" y="4807297"/>
            <a:ext cx="18607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9296102" y="4807297"/>
            <a:ext cx="2133897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524000" y="571500"/>
            <a:ext cx="73809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Performans Karşılaştırma Matrisi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62000" y="1285875"/>
            <a:ext cx="85534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685925"/>
            <a:ext cx="12192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62000" y="49053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BERTScore (F1) Üzerinden Semantik Başarı Oranları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524000" y="571500"/>
            <a:ext cx="661082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İnce Ayar (Fine-Tuning) Etkisi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62000" y="1285875"/>
            <a:ext cx="7820025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0262"/>
            <a:ext cx="50482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762000" y="2995612"/>
            <a:ext cx="5048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GEMMA-2-2B BAŞARISI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762000" y="3319462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%90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62000" y="4652962"/>
            <a:ext cx="5048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GEREKÇE KORUNUMU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667500" y="2424112"/>
            <a:ext cx="47005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Manuel Etiketleme Bulguları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800850" y="2862262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858000" y="2862262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Halüsinasyon Kontrolü: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Gemma-2 modelinde yanlış hukuki çıkarıma rastlanmadı.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800850" y="3871912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858000" y="3871912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Detay Kaybı:</a:t>
            </a: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360M parametreli modelde uzun metinlerde ikincil atıf kayıpları gözlendi.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800850" y="4886705"/>
            <a:ext cx="57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dirty="0"/>
          </a:p>
        </p:txBody>
      </p:sp>
      <p:sp>
        <p:nvSpPr>
          <p:cNvPr id="208" name="Google Shape;208;p20"/>
          <p:cNvSpPr txBox="1"/>
          <p:nvPr/>
        </p:nvSpPr>
        <p:spPr>
          <a:xfrm>
            <a:off x="6829425" y="4814887"/>
            <a:ext cx="4286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Gerekçe</a:t>
            </a:r>
            <a:r>
              <a:rPr lang="en-US" sz="1500" b="1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1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Korunumu</a:t>
            </a:r>
            <a:r>
              <a:rPr lang="en-US" sz="1500" b="1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ratio decidendi (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karar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rasyoneli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tüm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modellerde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temel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düzeyde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0" i="0" u="none" strike="noStrike" cap="none" dirty="0" err="1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korundu</a:t>
            </a:r>
            <a:r>
              <a:rPr lang="en-US" sz="1500" b="0" i="0" u="none" strike="noStrike" cap="none" dirty="0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1524000" y="571500"/>
            <a:ext cx="54306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Hukuki Doğruluk Analizi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762000" y="1285875"/>
            <a:ext cx="6696075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81212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090737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6381750" y="2967037"/>
            <a:ext cx="530066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Uç Birimlerde Yerel Hukuk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381750" y="3186112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SmolLM2-360M modelinin ince ayar başarısı, hukuki verilerin buluta çıkmadan yerel cihazlarda işlenebileceğini kanıtlamıştır.</a:t>
            </a:r>
            <a:endParaRPr/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448151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038975" y="4548187"/>
            <a:ext cx="2886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Veri Gizliliği ve KVKK Uyumu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524000" y="571500"/>
            <a:ext cx="5250656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Edge Cihazlar ve Gizlilik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762000" y="1285875"/>
            <a:ext cx="6524625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31727"/>
            <a:ext cx="504825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631727"/>
            <a:ext cx="504825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4974877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2D5B"/>
                </a:solidFill>
                <a:latin typeface="Montserrat"/>
                <a:ea typeface="Montserrat"/>
                <a:cs typeface="Montserrat"/>
                <a:sym typeface="Montserrat"/>
              </a:rPr>
              <a:t>RTX 3050 (4GB VRAM) simülasyonu başarılmıştır.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1047750" y="2955577"/>
            <a:ext cx="47005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Model Ölçeği Korelasyonu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1047750" y="3393727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Parametre boyutu arttıkça anlamsal doğruluk (BERTScore) ve muhakeme yeteneği doğrusal olarak artış göstermektedir.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667500" y="2955577"/>
            <a:ext cx="470058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Kaynak Verimliliği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667500" y="3393727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1.5B parametreli modeller, hız ve doğruluk dengesi açısından hukuk dikeyinde en optimum "sweet spot" olarak görülmektedir.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524000" y="571500"/>
            <a:ext cx="622077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Boyut - Performans Dengesi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762000" y="1285875"/>
            <a:ext cx="74485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/>
          <p:nvPr/>
        </p:nvSpPr>
        <p:spPr>
          <a:xfrm>
            <a:off x="762000" y="3976613"/>
            <a:ext cx="10668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859235" y="410043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2D5B"/>
          </a:solidFill>
          <a:ln w="38100" cap="flat" cmpd="sng">
            <a:solidFill>
              <a:srgbClr val="FDFB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703328" y="3747194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Hiyerarşik Chunking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762000" y="3966269"/>
            <a:ext cx="234687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Uzun metinlerin (Anayasa Kararları) anlam kaybı olmadan bölünmesi.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4632945" y="410043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2D5B"/>
          </a:solidFill>
          <a:ln w="38100" cap="flat" cmpd="sng">
            <a:solidFill>
              <a:srgbClr val="FDFB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3477037" y="3747194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HF Hub Yayını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3535709" y="3966269"/>
            <a:ext cx="234687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Turkish-Legal-SML adaptör ağırlıklarının açık kaynak paylaşımı.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7406654" y="410043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2D5B"/>
          </a:solidFill>
          <a:ln w="38100" cap="flat" cmpd="sng">
            <a:solidFill>
              <a:srgbClr val="FDFB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6250747" y="3747194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Benchmark Makalesi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309419" y="3966269"/>
            <a:ext cx="234687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Türk Yüksek Yargı İçtihatları için ortak benchmark yayınlanması.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10180364" y="4100438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02D5B"/>
          </a:solidFill>
          <a:ln w="38100" cap="flat" cmpd="sng">
            <a:solidFill>
              <a:srgbClr val="FDFB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9024457" y="3747194"/>
            <a:ext cx="24642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Gizlilik Katmanı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9083129" y="3966269"/>
            <a:ext cx="234687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Eğitim sürecine diferansiyel gizlilik tekniklerinin eklenmesi.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524000" y="571500"/>
            <a:ext cx="734091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Gelecek Çalışmalar ve Yol Haritası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762000" y="1285875"/>
            <a:ext cx="85153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6547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3690699" y="2184052"/>
            <a:ext cx="4810601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Sorularınız?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4696681" y="3828829"/>
            <a:ext cx="279863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C5A0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Teşekkür</a:t>
            </a:r>
            <a:r>
              <a:rPr lang="en-US" sz="2000" b="1" i="0" u="none" strike="noStrike" cap="none" dirty="0">
                <a:solidFill>
                  <a:srgbClr val="C5A0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en-US" sz="2000" b="1" i="0" u="none" strike="noStrike" cap="none" dirty="0" err="1">
                <a:solidFill>
                  <a:srgbClr val="C5A0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Ederim</a:t>
            </a:r>
            <a:r>
              <a:rPr lang="en-US" sz="2000" b="1" i="0" u="none" strike="noStrike" cap="none" dirty="0">
                <a:solidFill>
                  <a:srgbClr val="C5A0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2000" b="1" dirty="0"/>
          </a:p>
        </p:txBody>
      </p:sp>
      <p:sp>
        <p:nvSpPr>
          <p:cNvPr id="266" name="Google Shape;266;p24"/>
          <p:cNvSpPr txBox="1"/>
          <p:nvPr/>
        </p:nvSpPr>
        <p:spPr>
          <a:xfrm>
            <a:off x="4187571" y="4484651"/>
            <a:ext cx="35244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tr-TR" sz="135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Emrah Aksu </a:t>
            </a:r>
            <a:endParaRPr lang="tr-TR" sz="135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tr-TR" sz="135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 dirty="0">
                <a:solidFill>
                  <a:srgbClr val="FFFFFF"/>
                </a:solidFill>
                <a:latin typeface="Montserrat"/>
                <a:hlinkClick r:id="rId5"/>
              </a:rPr>
              <a:t>258273001032@ogr.selcuk.edu.tr</a:t>
            </a:r>
            <a:endParaRPr lang="tr-TR" sz="1350" dirty="0">
              <a:solidFill>
                <a:srgbClr val="FFFFFF"/>
              </a:solidFill>
              <a:latin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FFFFFF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/>
          <p:nvPr/>
        </p:nvSpPr>
        <p:spPr>
          <a:xfrm>
            <a:off x="1333500" y="3206204"/>
            <a:ext cx="9525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1333500" y="398145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1333500" y="398145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33556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2428875" y="3349079"/>
            <a:ext cx="8429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https://miro.medium.com/v2/resize:fit:1400/0*vpEp5wbiXNzuyLR6.jpg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2428875" y="3594794"/>
            <a:ext cx="8429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medium.com</a:t>
            </a:r>
            <a:endParaRPr/>
          </a:p>
        </p:txBody>
      </p:sp>
      <p:pic>
        <p:nvPicPr>
          <p:cNvPr id="278" name="Google Shape;27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41403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2428875" y="4133850"/>
            <a:ext cx="8429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https://www.mdpi.com/applsci/applsci-15-07533/article_deploy/html/images/applsci-15-07533-g001-550.jpg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2428875" y="4379565"/>
            <a:ext cx="8429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www.mdpi.com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2095500" y="1143000"/>
            <a:ext cx="318039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1333500" y="1857375"/>
            <a:ext cx="45529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559</Words>
  <Application>Microsoft Office PowerPoint</Application>
  <PresentationFormat>Geniş ekran</PresentationFormat>
  <Paragraphs>95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9" baseType="lpstr">
      <vt:lpstr>Montserrat Light</vt:lpstr>
      <vt:lpstr>Montserrat</vt:lpstr>
      <vt:lpstr>Calibri</vt:lpstr>
      <vt:lpstr>Merriweather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EMRAH AKSU</cp:lastModifiedBy>
  <cp:revision>2</cp:revision>
  <dcterms:modified xsi:type="dcterms:W3CDTF">2026-05-29T13:34:22Z</dcterms:modified>
</cp:coreProperties>
</file>